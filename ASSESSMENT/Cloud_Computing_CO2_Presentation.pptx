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FADE6E-37B3-4DF3-AB84-01380E043A8E}" v="2" dt="2026-07-31T08:39:52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60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vardhan ." userId="ee49a360c7469f96" providerId="LiveId" clId="{A9DE1DCA-3E54-4B62-BDBE-272027FD95CB}"/>
    <pc:docChg chg="custSel modSld">
      <pc:chgData name="Harsha vardhan ." userId="ee49a360c7469f96" providerId="LiveId" clId="{A9DE1DCA-3E54-4B62-BDBE-272027FD95CB}" dt="2026-07-31T08:40:01.498" v="7" actId="478"/>
      <pc:docMkLst>
        <pc:docMk/>
      </pc:docMkLst>
      <pc:sldChg chg="addSp delSp modSp mod">
        <pc:chgData name="Harsha vardhan ." userId="ee49a360c7469f96" providerId="LiveId" clId="{A9DE1DCA-3E54-4B62-BDBE-272027FD95CB}" dt="2026-07-31T08:40:01.498" v="7" actId="478"/>
        <pc:sldMkLst>
          <pc:docMk/>
          <pc:sldMk cId="0" sldId="256"/>
        </pc:sldMkLst>
        <pc:spChg chg="add del mod">
          <ac:chgData name="Harsha vardhan ." userId="ee49a360c7469f96" providerId="LiveId" clId="{A9DE1DCA-3E54-4B62-BDBE-272027FD95CB}" dt="2026-07-31T08:39:45.498" v="2"/>
          <ac:spMkLst>
            <pc:docMk/>
            <pc:sldMk cId="0" sldId="256"/>
            <ac:spMk id="15" creationId="{CC326E54-6673-8FA9-6AF6-86E01D8D4FD7}"/>
          </ac:spMkLst>
        </pc:spChg>
        <pc:spChg chg="add del mod">
          <ac:chgData name="Harsha vardhan ." userId="ee49a360c7469f96" providerId="LiveId" clId="{A9DE1DCA-3E54-4B62-BDBE-272027FD95CB}" dt="2026-07-31T08:40:01.498" v="7" actId="478"/>
          <ac:spMkLst>
            <pc:docMk/>
            <pc:sldMk cId="0" sldId="256"/>
            <ac:spMk id="16" creationId="{A12B6291-B0B2-F423-112E-C03DFC7C06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041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5943600" cy="5943600"/>
          </a:xfrm>
          <a:prstGeom prst="ellipse">
            <a:avLst/>
          </a:prstGeom>
          <a:solidFill>
            <a:srgbClr val="0B254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0FA3A3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463040" y="4754880"/>
            <a:ext cx="3108960" cy="3108960"/>
          </a:xfrm>
          <a:prstGeom prst="ellipse">
            <a:avLst/>
          </a:prstGeom>
          <a:solidFill>
            <a:srgbClr val="1F6FEB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 |  COURSE OUTCOME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Virtualization, Resilience &amp;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Scalability in the Cloud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Answers — AT-1 Q3  •  AT-2 Q1  •  AT-3 Q1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709160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5000"/>
            </a:srgbClr>
          </a:solidFill>
          <a:ln w="15875">
            <a:solidFill>
              <a:srgbClr val="0FA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977640" y="4709160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5000"/>
            </a:srgbClr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77640" y="47091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223760" y="4709160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5000"/>
            </a:srgbClr>
          </a:solidFill>
          <a:ln w="15875">
            <a:solidFill>
              <a:srgbClr val="E091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223760" y="47091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&amp;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•  B.E. Computer Science and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91840" y="-1280160"/>
            <a:ext cx="2926080" cy="2926080"/>
          </a:xfrm>
          <a:prstGeom prst="ellipse">
            <a:avLst/>
          </a:prstGeom>
          <a:solidFill>
            <a:srgbClr val="0FA3A3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0FA3A3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AT-1  •  QUESTION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vs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09160" y="26517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6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analysis of bare-metal and hosted hypervisors for a cloud datacenter running mission-critical applications — evaluated on performance, security, and manageability.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 •  CLOUD COMPUTING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AT-1  •  Q3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vs Type-2 — Head to Head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663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Type-1 (Bare-Metal)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Type-2 (Hosted)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Installation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Runs directly on hardware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Runs on top of a host OS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Examples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VMware ESXi, Hyper-V, Xen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VirtualBox, VMware Workstation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Performance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Near-native performance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Lower — host OS overhead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Security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Smaller attack surface, strong isolation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More vulnerable — host OS can be attacked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Reliability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Enterprise-grade, highly reliable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Best for personal / testing use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Management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Centralized mgmt, live migration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4546A"/>
                          </a:solidFill>
                        </a:rPr>
                        <a:t>Limited management features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AT-1  •  Q3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Security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A3A3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communication with hardware — no host OS in between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CPU and memory overhead per virtual machine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VM startup and better horizontal scalability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high-performance cloud servers running compute-intensive workloads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18745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F6F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VM isolation between tenants and workloads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attack surface — there is no general-purpose host OS to compromise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Secure Boot, TPM, disk/traffic encryption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role-based administration for hypervisor-level access control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AT-1  •  Q3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Manageability &amp; Final Justification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0912A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 — move running VMs between hosts with zero downtime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— automatic VM restart on host failure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across the physical host cluster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monitoring of the entire datacenter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resource scheduling for CPU, memory and storage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75120" y="18745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Type-1 Hypervisor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37744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performance for latency-sensitive, mission-critical apps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security through hardware-level isolation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and rapid disaster recovery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centralized management at scale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downtime across the datacenter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hypervisors are preferred for cloud datacenters — they deliver stronger performance, tighter security, and easier management at scale than Type-2 hypervisors.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91840" y="-1280160"/>
            <a:ext cx="2926080" cy="2926080"/>
          </a:xfrm>
          <a:prstGeom prst="ellipse">
            <a:avLst/>
          </a:prstGeom>
          <a:solidFill>
            <a:srgbClr val="1F6FEB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0FA3A3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AT-2  •  QUESTION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09160" y="26517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6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cloud-native backup, replication, and versioning strategy for an e-learning platform to prevent data loss and guarantee business continuity.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 •  CLOUD COMPUTING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AT-2  •  Q1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Replication &amp; Versioning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A3A3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daily full backups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backups every hour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across multiple geographic regions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backup data encrypted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17720" y="18745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F6F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237744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replication of live data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available if one region fails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faster disaster recovery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12480" y="18745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0912A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12480" y="1874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37744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versioning enabled on storage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accidentally deleted files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earlier file versions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accidental overwrites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AT-2  •  Q1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&amp; Recovery Point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0FA3A3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— RECOVERY TIME OBJECTIVE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acceptable downtime after a failure.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to a healthy region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standby servers ready to take traffic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snapshots for rapid environment rebuild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Rapid, scripted restoration procedures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75120" y="1874520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E0912A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75120" y="18745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RECOVERY POINT OBJECTIVE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0" y="23317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acceptable data loss, measured in time.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92608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near-real-time replication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scheduled and incremental backups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/ asynchronous database synchronization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AT-2  •  Q1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 — Recovery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653540" cy="1828800"/>
          </a:xfrm>
          <a:prstGeom prst="roundRect">
            <a:avLst>
              <a:gd name="adj" fmla="val 44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653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3291840"/>
            <a:ext cx="15072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system failure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83892" y="3364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30780" y="2651760"/>
            <a:ext cx="1653540" cy="1828800"/>
          </a:xfrm>
          <a:prstGeom prst="roundRect">
            <a:avLst>
              <a:gd name="adj" fmla="val 4424"/>
            </a:avLst>
          </a:prstGeom>
          <a:solidFill>
            <a:srgbClr val="1F6F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30780" y="2788920"/>
            <a:ext cx="1653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03932" y="3291840"/>
            <a:ext cx="15072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traffic to backup region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66032" y="3364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12920" y="2651760"/>
            <a:ext cx="1653540" cy="1828800"/>
          </a:xfrm>
          <a:prstGeom prst="roundRect">
            <a:avLst>
              <a:gd name="adj" fmla="val 44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12920" y="2788920"/>
            <a:ext cx="1653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6072" y="3291840"/>
            <a:ext cx="15072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latest backup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8172" y="3364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95060" y="2651760"/>
            <a:ext cx="1653540" cy="1828800"/>
          </a:xfrm>
          <a:prstGeom prst="roundRect">
            <a:avLst>
              <a:gd name="adj" fmla="val 4424"/>
            </a:avLst>
          </a:prstGeom>
          <a:solidFill>
            <a:srgbClr val="1F6F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95060" y="2788920"/>
            <a:ext cx="1653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8212" y="3291840"/>
            <a:ext cx="15072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application functionality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30312" y="3364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77200" y="2651760"/>
            <a:ext cx="1653540" cy="1828800"/>
          </a:xfrm>
          <a:prstGeom prst="roundRect">
            <a:avLst>
              <a:gd name="adj" fmla="val 44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77200" y="2788920"/>
            <a:ext cx="1653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150352" y="3291840"/>
            <a:ext cx="15072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normal operations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12452" y="3364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959340" y="2651760"/>
            <a:ext cx="1653540" cy="1828800"/>
          </a:xfrm>
          <a:prstGeom prst="roundRect">
            <a:avLst>
              <a:gd name="adj" fmla="val 4424"/>
            </a:avLst>
          </a:prstGeom>
          <a:solidFill>
            <a:srgbClr val="1F6F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959340" y="2788920"/>
            <a:ext cx="1653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32492" y="3291840"/>
            <a:ext cx="15072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post-incident analysis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backup, replication, and versioning together minimize data loss, reduce downtime, and keep the e-learning platform available through failures.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91840" y="-1280160"/>
            <a:ext cx="2926080" cy="2926080"/>
          </a:xfrm>
          <a:prstGeom prst="ellipse">
            <a:avLst/>
          </a:prstGeom>
          <a:solidFill>
            <a:srgbClr val="E0912A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0FA3A3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0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AT-3  •  QUESTION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09160" y="26517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6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elastic infrastructure absorbs unpredictable seasonal-sale traffic spikes while cutting downtime and protecting the shopping experience.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 •  CLOUD COMPUTING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AT-3  •  Q1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Seasonal Traffic Spikes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A3A3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new VMs automatically when CPU / network demand rises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extra servers once the sale ends to control 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F6F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incoming requests evenly across all servers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any single server from becoming overloaded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0912A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DOWNTIME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replaces unhealthy servers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high availability under heavy load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9319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46520" y="41605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B2545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46520" y="4160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46177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page loads and smoother checkout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crashes, better response time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AT-3  •  Q1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Tools &amp; Real-World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0FA3A3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MONITORING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tools continuously track: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617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server health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thresholds are exceeded, they trigger auto-scaling and alert administrators.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5400000" algn="bl" rotWithShape="0">
              <a:srgbClr val="1F2A44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675120" y="187452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0912A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75120" y="1874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0" y="23317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Great Indian Festival / Flipkart Big Billion 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3063240"/>
            <a:ext cx="4617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shoppers access the site at the same moment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launches additional servers instantly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 spread traffic evenly across them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crashes, smooth checkout, happy customers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A3A3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1F6FE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— CO2  |  AT-1 Q3 • AT-2 Q1 • AT-3 Q1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82396" y="429768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FA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82396" y="4297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Hypervisors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8556" y="429768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48556" y="4297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 (RTO/RPO)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14716" y="429768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091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14716" y="4297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&amp; Load Balancing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Microsoft Office PowerPoint</Application>
  <PresentationFormat>Widescreen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 vardhan .</cp:lastModifiedBy>
  <cp:revision>1</cp:revision>
  <dcterms:created xsi:type="dcterms:W3CDTF">2026-07-31T08:34:50Z</dcterms:created>
  <dcterms:modified xsi:type="dcterms:W3CDTF">2026-07-31T08:40:09Z</dcterms:modified>
</cp:coreProperties>
</file>