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5564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40417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69255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70807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748651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050012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26911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1814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289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BA754D-A187-F4C5-5394-432569388F46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8255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0113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318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13C6B9-2B84-C2BB-CB58-8ED40A35CD3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05289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65233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898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CA24FA-3813-F99C-57AC-837AFB29FA2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5812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47012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253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5070F3-27B6-8331-4764-8C68316E2C5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052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20364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48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2BB8-A20D-7905-74A1-568172F5958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3118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21322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24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CF174A-140A-095D-E977-5F16A53481FD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39108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98371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187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8EB42-6382-84B4-FED1-79615CFDF78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27706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62037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59DC04-3825-21A3-B804-BCEBD5FE585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507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2470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145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0A056-E022-CDE8-8F54-1F7D04F0B017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6565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4105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102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0B8A2E-E105-30E7-8852-EB939F3A08A0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4041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7835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95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9159D2-AC7C-DC9F-FC82-855C4A0417DB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064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05083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304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B9CF59-135D-FAF9-4BD4-66CDBE1D3116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253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5613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7162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9C5F8-0471-26FD-395A-BFB135F3FC39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18549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91691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232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63D35A-8D81-2395-6B2A-F8D836B108E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5357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44572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48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84946D-26C1-7421-782C-65DEAF692133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20685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01637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194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56E882-3FD5-D21F-74CC-DDFBF02AE66E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8969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24369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594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8DA3C2-24C5-0DF1-AACE-D8324B5D425D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1323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1051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322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9E403-454C-2773-43AD-8BCAFED24619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3495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8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916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D5BC77-6DBC-9D8A-BCAE-8B76B78AA218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8918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95091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308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01B21F-565B-CD1B-A1DB-A71694E83D43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4072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34245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286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198EA7-585D-024B-DAB3-BF06B4BDE4F1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562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8333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047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DE2023-E854-E61B-C2AB-C0FF83144573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903128" name="Holder 2"/>
          <p:cNvSpPr>
            <a:spLocks noGrp="1"/>
          </p:cNvSpPr>
          <p:nvPr>
            <p:ph type="ctrTitle"/>
          </p:nvPr>
        </p:nvSpPr>
        <p:spPr bwMode="auto"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1527297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22222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0043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58288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9/2/2026</a:t>
            </a:fld>
            <a:endParaRPr/>
          </a:p>
        </p:txBody>
      </p:sp>
      <p:sp>
        <p:nvSpPr>
          <p:cNvPr id="19181985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10149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321475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600" b="0" i="0">
                <a:solidFill>
                  <a:srgbClr val="222222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76774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31077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9/2/2026</a:t>
            </a:fld>
            <a:endParaRPr/>
          </a:p>
        </p:txBody>
      </p:sp>
      <p:sp>
        <p:nvSpPr>
          <p:cNvPr id="4566871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80369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7928678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8891858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6074460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495283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9/2/2026</a:t>
            </a:fld>
            <a:endParaRPr/>
          </a:p>
        </p:txBody>
      </p:sp>
      <p:sp>
        <p:nvSpPr>
          <p:cNvPr id="187784374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3174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430805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5018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9/2/2026</a:t>
            </a:fld>
            <a:endParaRPr/>
          </a:p>
        </p:txBody>
      </p:sp>
      <p:sp>
        <p:nvSpPr>
          <p:cNvPr id="19093407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89645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857525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9/2/2026</a:t>
            </a:fld>
            <a:endParaRPr/>
          </a:p>
        </p:txBody>
      </p:sp>
      <p:sp>
        <p:nvSpPr>
          <p:cNvPr id="124199317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 /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jp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176499" name="bg object 16"/>
          <p:cNvPicPr/>
          <p:nvPr/>
        </p:nvPicPr>
        <p:blipFill rotWithShape="1">
          <a:blip r:embed="rId7"/>
          <a:stretch/>
        </p:blipFill>
        <p:spPr bwMode="auto">
          <a:xfrm>
            <a:off x="228600" y="182880"/>
            <a:ext cx="502918" cy="795527"/>
          </a:xfrm>
          <a:prstGeom prst="rect">
            <a:avLst/>
          </a:prstGeom>
        </p:spPr>
      </p:pic>
      <p:pic>
        <p:nvPicPr>
          <p:cNvPr id="1954824692" name="bg object 17"/>
          <p:cNvPicPr/>
          <p:nvPr/>
        </p:nvPicPr>
        <p:blipFill rotWithShape="1">
          <a:blip r:embed="rId8"/>
          <a:stretch/>
        </p:blipFill>
        <p:spPr bwMode="auto">
          <a:xfrm>
            <a:off x="11475720" y="228600"/>
            <a:ext cx="566927" cy="566927"/>
          </a:xfrm>
          <a:prstGeom prst="rect">
            <a:avLst/>
          </a:prstGeom>
        </p:spPr>
      </p:pic>
      <p:sp>
        <p:nvSpPr>
          <p:cNvPr id="433470649" name="Holder 2"/>
          <p:cNvSpPr>
            <a:spLocks noGrp="1"/>
          </p:cNvSpPr>
          <p:nvPr>
            <p:ph type="title"/>
          </p:nvPr>
        </p:nvSpPr>
        <p:spPr bwMode="auto">
          <a:xfrm>
            <a:off x="2130906" y="327355"/>
            <a:ext cx="7930187" cy="7287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834210" name="Holder 3"/>
          <p:cNvSpPr>
            <a:spLocks noGrp="1"/>
          </p:cNvSpPr>
          <p:nvPr>
            <p:ph type="body" idx="1"/>
          </p:nvPr>
        </p:nvSpPr>
        <p:spPr bwMode="auto">
          <a:xfrm>
            <a:off x="926462" y="1215134"/>
            <a:ext cx="10271760" cy="326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22222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213725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33222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9/2/2026</a:t>
            </a:fld>
            <a:endParaRPr/>
          </a:p>
        </p:txBody>
      </p:sp>
      <p:sp>
        <p:nvSpPr>
          <p:cNvPr id="127190150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7" Type="http://schemas.openxmlformats.org/officeDocument/2006/relationships/image" Target="../media/image8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7.jpg" /><Relationship Id="rId5" Type="http://schemas.openxmlformats.org/officeDocument/2006/relationships/image" Target="../media/image6.jpg" /><Relationship Id="rId4" Type="http://schemas.openxmlformats.org/officeDocument/2006/relationships/image" Target="../media/image5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4.png" /><Relationship Id="rId5" Type="http://schemas.openxmlformats.org/officeDocument/2006/relationships/image" Target="../media/image11.jpg" /><Relationship Id="rId4" Type="http://schemas.openxmlformats.org/officeDocument/2006/relationships/image" Target="../media/image10.jp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4.png" /><Relationship Id="rId4" Type="http://schemas.openxmlformats.org/officeDocument/2006/relationships/image" Target="../media/image13.jp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5.png" /><Relationship Id="rId5" Type="http://schemas.openxmlformats.org/officeDocument/2006/relationships/image" Target="../media/image17.png" /><Relationship Id="rId4" Type="http://schemas.openxmlformats.org/officeDocument/2006/relationships/image" Target="../media/image16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085575" name="object 2"/>
          <p:cNvPicPr/>
          <p:nvPr/>
        </p:nvPicPr>
        <p:blipFill rotWithShape="1">
          <a:blip r:embed="rId3"/>
          <a:stretch/>
        </p:blipFill>
        <p:spPr bwMode="auto">
          <a:xfrm>
            <a:off x="502920" y="320040"/>
            <a:ext cx="11155679" cy="1435607"/>
          </a:xfrm>
          <a:prstGeom prst="rect">
            <a:avLst/>
          </a:prstGeom>
        </p:spPr>
      </p:pic>
      <p:sp>
        <p:nvSpPr>
          <p:cNvPr id="1916180978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2737750" y="2303778"/>
            <a:ext cx="7951970" cy="470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b="1" spc="-20">
                <a:latin typeface="Times New Roman"/>
                <a:cs typeface="Times New Roman"/>
              </a:rPr>
              <a:t>Cloud-</a:t>
            </a:r>
            <a:r>
              <a:rPr b="1">
                <a:latin typeface="Times New Roman"/>
                <a:cs typeface="Times New Roman"/>
              </a:rPr>
              <a:t>Based</a:t>
            </a:r>
            <a:r>
              <a:rPr b="1" spc="-65">
                <a:latin typeface="Times New Roman"/>
                <a:cs typeface="Times New Roman"/>
              </a:rPr>
              <a:t> </a:t>
            </a:r>
            <a:r>
              <a:rPr b="1">
                <a:latin typeface="Times New Roman"/>
                <a:cs typeface="Times New Roman"/>
              </a:rPr>
              <a:t>Smart</a:t>
            </a:r>
            <a:r>
              <a:rPr b="1" spc="-90">
                <a:latin typeface="Times New Roman"/>
                <a:cs typeface="Times New Roman"/>
              </a:rPr>
              <a:t> </a:t>
            </a:r>
            <a:r>
              <a:rPr b="1" spc="-50">
                <a:latin typeface="Times New Roman"/>
                <a:cs typeface="Times New Roman"/>
              </a:rPr>
              <a:t>Warehouse</a:t>
            </a:r>
            <a:r>
              <a:rPr b="1" spc="-170">
                <a:latin typeface="Times New Roman"/>
                <a:cs typeface="Times New Roman"/>
              </a:rPr>
              <a:t> </a:t>
            </a:r>
            <a:r>
              <a:rPr b="1" spc="-10">
                <a:latin typeface="Times New Roman"/>
                <a:cs typeface="Times New Roman"/>
              </a:rPr>
              <a:t>Automation </a:t>
            </a:r>
            <a:endParaRPr b="1"/>
          </a:p>
        </p:txBody>
      </p:sp>
      <p:sp>
        <p:nvSpPr>
          <p:cNvPr id="931336993" name="object 4"/>
          <p:cNvSpPr txBox="1"/>
          <p:nvPr/>
        </p:nvSpPr>
        <p:spPr bwMode="auto">
          <a:xfrm>
            <a:off x="3285735" y="2737357"/>
            <a:ext cx="5589059" cy="759819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  <a:defRPr/>
            </a:pPr>
            <a:r>
              <a:rPr sz="1800" spc="-10">
                <a:solidFill>
                  <a:srgbClr val="222222"/>
                </a:solidFill>
                <a:latin typeface="Times New Roman"/>
                <a:cs typeface="Times New Roman"/>
              </a:rPr>
              <a:t>Simulation-</a:t>
            </a:r>
            <a:r>
              <a:rPr sz="1800">
                <a:solidFill>
                  <a:srgbClr val="222222"/>
                </a:solidFill>
                <a:latin typeface="Times New Roman"/>
                <a:cs typeface="Times New Roman"/>
              </a:rPr>
              <a:t>Based</a:t>
            </a:r>
            <a:r>
              <a:rPr sz="18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222222"/>
                </a:solidFill>
                <a:latin typeface="Times New Roman"/>
                <a:cs typeface="Times New Roman"/>
              </a:rPr>
              <a:t>Intelligent</a:t>
            </a:r>
            <a:r>
              <a:rPr sz="18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 spc="-35">
                <a:solidFill>
                  <a:srgbClr val="222222"/>
                </a:solidFill>
                <a:latin typeface="Times New Roman"/>
                <a:cs typeface="Times New Roman"/>
              </a:rPr>
              <a:t>Warehouse</a:t>
            </a:r>
            <a:r>
              <a:rPr sz="1800" spc="-10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222222"/>
                </a:solidFill>
                <a:latin typeface="Times New Roman"/>
                <a:cs typeface="Times New Roman"/>
              </a:rPr>
              <a:t>Automation</a:t>
            </a:r>
            <a:r>
              <a:rPr sz="1800" spc="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222222"/>
                </a:solidFill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850"/>
              </a:spcBef>
              <a:defRPr/>
            </a:pP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CSA1501</a:t>
            </a:r>
            <a:r>
              <a:rPr sz="16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>
                <a:solidFill>
                  <a:srgbClr val="222222"/>
                </a:solidFill>
                <a:latin typeface="Times New Roman"/>
                <a:cs typeface="Times New Roman"/>
              </a:rPr>
              <a:t>cloud</a:t>
            </a:r>
            <a:r>
              <a:rPr sz="16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600" spc="-10">
                <a:solidFill>
                  <a:srgbClr val="222222"/>
                </a:solidFill>
                <a:latin typeface="Times New Roman"/>
                <a:cs typeface="Times New Roman"/>
              </a:rPr>
              <a:t>computing</a:t>
            </a:r>
            <a:r>
              <a:rPr sz="1600">
                <a:latin typeface="Times New Roman"/>
                <a:cs typeface="Times New Roman"/>
              </a:rPr>
              <a:t> for</a:t>
            </a:r>
          </a:p>
        </p:txBody>
      </p:sp>
      <p:sp>
        <p:nvSpPr>
          <p:cNvPr id="1329907630" name="object 5"/>
          <p:cNvSpPr txBox="1"/>
          <p:nvPr/>
        </p:nvSpPr>
        <p:spPr bwMode="auto">
          <a:xfrm>
            <a:off x="575945" y="4699810"/>
            <a:ext cx="8559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Guide</a:t>
            </a:r>
            <a:r>
              <a:rPr sz="1500" b="1" spc="-25">
                <a:solidFill>
                  <a:srgbClr val="222222"/>
                </a:solidFill>
                <a:latin typeface="Times New Roman"/>
                <a:cs typeface="Times New Roman"/>
              </a:rPr>
              <a:t> By: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66121832" name="object 6"/>
          <p:cNvSpPr txBox="1"/>
          <p:nvPr/>
        </p:nvSpPr>
        <p:spPr bwMode="auto">
          <a:xfrm>
            <a:off x="575944" y="5157009"/>
            <a:ext cx="2348479" cy="24165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0" spc="-10">
                <a:solidFill>
                  <a:srgbClr val="222222"/>
                </a:solidFill>
                <a:latin typeface="Times New Roman"/>
                <a:cs typeface="Times New Roman"/>
              </a:rPr>
              <a:t>Dr.M.D BOOMIJA</a:t>
            </a:r>
            <a:endParaRPr sz="1500" b="0">
              <a:latin typeface="Times New Roman"/>
              <a:cs typeface="Times New Roman"/>
            </a:endParaRPr>
          </a:p>
        </p:txBody>
      </p:sp>
      <p:sp>
        <p:nvSpPr>
          <p:cNvPr id="335497203" name="object 7"/>
          <p:cNvSpPr txBox="1"/>
          <p:nvPr/>
        </p:nvSpPr>
        <p:spPr bwMode="auto">
          <a:xfrm>
            <a:off x="575944" y="5398668"/>
            <a:ext cx="2218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SSE,</a:t>
            </a:r>
            <a:r>
              <a:rPr sz="1500" b="1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25">
                <a:solidFill>
                  <a:srgbClr val="222222"/>
                </a:solidFill>
                <a:latin typeface="Times New Roman"/>
                <a:cs typeface="Times New Roman"/>
              </a:rPr>
              <a:t>SIMATS</a:t>
            </a:r>
            <a:r>
              <a:rPr sz="1500" b="1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Engineering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94134808" name="object 8"/>
          <p:cNvSpPr txBox="1"/>
          <p:nvPr/>
        </p:nvSpPr>
        <p:spPr bwMode="auto">
          <a:xfrm>
            <a:off x="7418705" y="4536021"/>
            <a:ext cx="11379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Presented</a:t>
            </a:r>
            <a:r>
              <a:rPr sz="1500" b="1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25">
                <a:solidFill>
                  <a:srgbClr val="222222"/>
                </a:solidFill>
                <a:latin typeface="Times New Roman"/>
                <a:cs typeface="Times New Roman"/>
              </a:rPr>
              <a:t>by: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14927980" name="object 9"/>
          <p:cNvSpPr txBox="1"/>
          <p:nvPr/>
        </p:nvSpPr>
        <p:spPr bwMode="auto">
          <a:xfrm>
            <a:off x="7418705" y="4993221"/>
            <a:ext cx="3530049" cy="92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5490" algn="l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H.</a:t>
            </a:r>
            <a:r>
              <a:rPr sz="1500" b="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 spc="-10">
                <a:solidFill>
                  <a:srgbClr val="222222"/>
                </a:solidFill>
                <a:latin typeface="Times New Roman"/>
                <a:cs typeface="Times New Roman"/>
              </a:rPr>
              <a:t>Harshavardhan</a:t>
            </a:r>
            <a:r>
              <a:rPr sz="1500" b="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 spc="-10">
                <a:solidFill>
                  <a:srgbClr val="222222"/>
                </a:solidFill>
                <a:latin typeface="Times New Roman"/>
                <a:cs typeface="Times New Roman"/>
              </a:rPr>
              <a:t>(192511171) </a:t>
            </a: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Ch</a:t>
            </a:r>
            <a:r>
              <a:rPr sz="1500" b="0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.</a:t>
            </a:r>
            <a:r>
              <a:rPr sz="1500" b="0" spc="-9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Abhilash</a:t>
            </a:r>
            <a:r>
              <a:rPr sz="1500" b="0" spc="30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Reddy</a:t>
            </a:r>
            <a:r>
              <a:rPr sz="1500" b="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 spc="-10">
                <a:solidFill>
                  <a:srgbClr val="222222"/>
                </a:solidFill>
                <a:latin typeface="Times New Roman"/>
                <a:cs typeface="Times New Roman"/>
              </a:rPr>
              <a:t>(192525462)</a:t>
            </a:r>
            <a:endParaRPr sz="1500" b="0">
              <a:latin typeface="Times New Roman"/>
              <a:cs typeface="Times New Roman"/>
            </a:endParaRPr>
          </a:p>
          <a:p>
            <a:pPr marL="12700" marR="5080" algn="l">
              <a:lnSpc>
                <a:spcPct val="100000"/>
              </a:lnSpc>
              <a:defRPr/>
            </a:pP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Lingamguntla</a:t>
            </a:r>
            <a:r>
              <a:rPr sz="1500" b="0" spc="3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>
                <a:solidFill>
                  <a:srgbClr val="222222"/>
                </a:solidFill>
                <a:latin typeface="Times New Roman"/>
                <a:cs typeface="Times New Roman"/>
              </a:rPr>
              <a:t>surya</a:t>
            </a:r>
            <a:r>
              <a:rPr sz="1500" b="0" spc="3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 spc="-10">
                <a:solidFill>
                  <a:srgbClr val="222222"/>
                </a:solidFill>
                <a:latin typeface="Times New Roman"/>
                <a:cs typeface="Times New Roman"/>
              </a:rPr>
              <a:t>praneeth(192311233) Yannamani</a:t>
            </a:r>
            <a:r>
              <a:rPr sz="1500" b="0" spc="18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0" spc="-10">
                <a:solidFill>
                  <a:srgbClr val="222222"/>
                </a:solidFill>
                <a:latin typeface="Times New Roman"/>
                <a:cs typeface="Times New Roman"/>
              </a:rPr>
              <a:t>sarvarayudu(192324181)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16021287" name="object 10"/>
          <p:cNvSpPr txBox="1"/>
          <p:nvPr/>
        </p:nvSpPr>
        <p:spPr bwMode="auto">
          <a:xfrm>
            <a:off x="7418705" y="6009220"/>
            <a:ext cx="2218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1">
                <a:solidFill>
                  <a:srgbClr val="222222"/>
                </a:solidFill>
                <a:latin typeface="Times New Roman"/>
                <a:cs typeface="Times New Roman"/>
              </a:rPr>
              <a:t>SSE,</a:t>
            </a:r>
            <a:r>
              <a:rPr sz="1500" b="1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25">
                <a:solidFill>
                  <a:srgbClr val="222222"/>
                </a:solidFill>
                <a:latin typeface="Times New Roman"/>
                <a:cs typeface="Times New Roman"/>
              </a:rPr>
              <a:t>SIMATS</a:t>
            </a:r>
            <a:r>
              <a:rPr sz="1500" b="1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500" b="1" spc="-10">
                <a:solidFill>
                  <a:srgbClr val="222222"/>
                </a:solidFill>
                <a:latin typeface="Times New Roman"/>
                <a:cs typeface="Times New Roman"/>
              </a:rPr>
              <a:t>Engineering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026622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2857500">
              <a:lnSpc>
                <a:spcPct val="100000"/>
              </a:lnSpc>
              <a:spcBef>
                <a:spcPts val="100"/>
              </a:spcBef>
              <a:defRPr/>
            </a:pPr>
            <a:r>
              <a:rPr spc="-10">
                <a:latin typeface="Georgia"/>
                <a:cs typeface="Georgia"/>
              </a:rPr>
              <a:t>ABSTRACT</a:t>
            </a:r>
            <a:endParaRPr/>
          </a:p>
        </p:txBody>
      </p:sp>
      <p:sp>
        <p:nvSpPr>
          <p:cNvPr id="800055407" name="object 3"/>
          <p:cNvSpPr txBox="1"/>
          <p:nvPr/>
        </p:nvSpPr>
        <p:spPr bwMode="auto">
          <a:xfrm>
            <a:off x="926461" y="1215134"/>
            <a:ext cx="10217129" cy="4639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cloud-deployable warehouse automation platform combining a FastAPI/PostgreSQL backend with core WMS operations, robotics, and an intelligence layer.</a:t>
            </a:r>
            <a:endParaRPr sz="2200"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Real-time A* path planning with obstacle avoidance, cell-reservation collision detection, and priority-based conflict resolution drives autonomous robot navigation.</a:t>
            </a:r>
            <a:endParaRPr sz="2200"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explainable AI layer forecasts demand (WAPE/MAE/RMSE/sMAPE) and flags inventory shrinkage using Isolation Forest anomaly detection.</a:t>
            </a:r>
            <a:endParaRPr sz="2200"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Scenario Lab and Digital Twin let managers run reproducible what-if experiments, including OR-Tools optimized scheduling and SimPy discrete-event simulation.</a:t>
            </a:r>
            <a:endParaRPr sz="2200"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Security is enforced through JWT/RBAC authentication, step-up OTP verification, and a hash-chained, tamper-evident audit ledger.</a:t>
            </a:r>
            <a:endParaRPr sz="2200"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health, metrics, and error tracking are exposed for full observability across every connected service.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99905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2294890">
              <a:lnSpc>
                <a:spcPct val="100000"/>
              </a:lnSpc>
              <a:spcBef>
                <a:spcPts val="100"/>
              </a:spcBef>
              <a:defRPr/>
            </a:pPr>
            <a:r>
              <a:rPr spc="-10">
                <a:latin typeface="Georgia"/>
                <a:cs typeface="Georgia"/>
              </a:rPr>
              <a:t>INTRODUCTION</a:t>
            </a:r>
            <a:endParaRPr/>
          </a:p>
        </p:txBody>
      </p:sp>
      <p:sp>
        <p:nvSpPr>
          <p:cNvPr id="2126344904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926461" y="1215134"/>
            <a:ext cx="10273199" cy="4036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and semi-automated warehouses struggle with robot congestion, unpredictable demand, and undetected inventory shrinkage.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project builds a single integrated platform where core operations, robot automation, inventory intelligence, and warehouse security work together end to end.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tick-based Digital Twin keeps a live, database-reconciled view of every robot, task, and obstacle in the warehouse.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Machine learning adds forecasting and anomaly detection on top of raw stock-movement data, so decisions are explainable, not black-box.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is built to be demoable and auditable: every simulation run is reproducible, every security-relevant action is logged to an immutable ledger.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94586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2654300">
              <a:lnSpc>
                <a:spcPct val="100000"/>
              </a:lnSpc>
              <a:spcBef>
                <a:spcPts val="100"/>
              </a:spcBef>
              <a:defRPr/>
            </a:pPr>
            <a:r>
              <a:rPr spc="-10">
                <a:latin typeface="Georgia"/>
                <a:cs typeface="Georgia"/>
              </a:rPr>
              <a:t>OBJECTIVES</a:t>
            </a:r>
            <a:endParaRPr/>
          </a:p>
        </p:txBody>
      </p:sp>
      <p:sp>
        <p:nvSpPr>
          <p:cNvPr id="1021412784" name="object 3"/>
          <p:cNvSpPr txBox="1"/>
          <p:nvPr/>
        </p:nvSpPr>
        <p:spPr bwMode="auto">
          <a:xfrm>
            <a:off x="926461" y="1251711"/>
            <a:ext cx="10322519" cy="2939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build a complete warehouse operations core orders, inventory, transfers, and receiving as the foundation of the platform.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secure the platform end to end with RBAC, step-up OTP authentication, and a hash-chained, tamper evident audit ledger.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forecast product demand and detect inventory anomalies using explainable machine learning models.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simulate a multi-robot fleet with A* path planning and a live Digital Twin, and expose AI-assisted decision support to managers.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0083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002199" y="438480"/>
            <a:ext cx="9089009" cy="923699"/>
          </a:xfrm>
          <a:prstGeom prst="rect">
            <a:avLst/>
          </a:prstGeom>
        </p:spPr>
        <p:txBody>
          <a:bodyPr vert="horz" wrap="square" lIns="0" tIns="161339" rIns="0" bIns="0" rtlCol="0">
            <a:spAutoFit/>
          </a:bodyPr>
          <a:lstStyle/>
          <a:p>
            <a:pPr>
              <a:defRPr/>
            </a:pPr>
            <a:r>
              <a:rPr sz="25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MODULE 1: CORE WAREHOUSE OPERATIONS &amp; INVENTORY MANAGEMENT</a:t>
            </a:r>
            <a:endParaRPr sz="2500" b="1">
              <a:solidFill>
                <a:srgbClr val="C00000"/>
              </a:solidFill>
            </a:endParaRPr>
          </a:p>
        </p:txBody>
      </p:sp>
      <p:sp>
        <p:nvSpPr>
          <p:cNvPr id="1364438934" name="object 3"/>
          <p:cNvSpPr txBox="1"/>
          <p:nvPr/>
        </p:nvSpPr>
        <p:spPr bwMode="auto">
          <a:xfrm>
            <a:off x="925527" y="1526284"/>
            <a:ext cx="10698756" cy="330489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61850" indent="-261850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Manages the full order lifecycle creation, picking, packing, shipping, and delivery with validated state transitions.</a:t>
            </a:r>
            <a:endParaRPr sz="2400"/>
          </a:p>
          <a:p>
            <a:pPr marL="261850" indent="-261850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Tracks inventory in real time with row-level locking to prevent race conditions during concurrent stock updates.</a:t>
            </a:r>
            <a:endParaRPr sz="2400"/>
          </a:p>
          <a:p>
            <a:pPr marL="261850" indent="-261850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Supports inter-warehouse transfers, damage logging, and return workflows with full traceability.</a:t>
            </a:r>
            <a:endParaRPr sz="2400"/>
          </a:p>
          <a:p>
            <a:pPr marL="261850" indent="-261850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 stock movement is recorded against a single, database-verified source of truth.</a:t>
            </a:r>
            <a:endParaRPr sz="2400"/>
          </a:p>
          <a:p>
            <a:pPr marL="261850" indent="-261850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Backed by an automated test suite covering order flows, inventory accuracy, and edge-case state transitions.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20630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130906" y="327355"/>
            <a:ext cx="7930906" cy="470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6665">
              <a:lnSpc>
                <a:spcPct val="100000"/>
              </a:lnSpc>
              <a:spcBef>
                <a:spcPts val="100"/>
              </a:spcBef>
              <a:defRPr/>
            </a:pPr>
            <a:r>
              <a:rPr b="1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r>
              <a:rPr b="1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b="1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b="1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b="1" spc="-1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b="1"/>
          </a:p>
        </p:txBody>
      </p:sp>
      <p:pic>
        <p:nvPicPr>
          <p:cNvPr id="1738174166" name="Picture 173817416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4161" y="327355"/>
            <a:ext cx="352424" cy="552449"/>
          </a:xfrm>
          <a:prstGeom prst="rect">
            <a:avLst/>
          </a:prstGeom>
        </p:spPr>
      </p:pic>
      <p:pic>
        <p:nvPicPr>
          <p:cNvPr id="235268108" name="Picture 23526810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352249" y="194004"/>
            <a:ext cx="511949" cy="409574"/>
          </a:xfrm>
          <a:prstGeom prst="rect">
            <a:avLst/>
          </a:prstGeom>
        </p:spPr>
      </p:pic>
      <p:pic>
        <p:nvPicPr>
          <p:cNvPr id="1595139403" name="Picture 159513940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9374" y="1056147"/>
            <a:ext cx="5731142" cy="2889249"/>
          </a:xfrm>
          <a:prstGeom prst="rect">
            <a:avLst/>
          </a:prstGeom>
        </p:spPr>
      </p:pic>
      <p:pic>
        <p:nvPicPr>
          <p:cNvPr id="291414198" name="Picture 29141419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034473" y="1056147"/>
            <a:ext cx="5984525" cy="2889249"/>
          </a:xfrm>
          <a:prstGeom prst="rect">
            <a:avLst/>
          </a:prstGeom>
        </p:spPr>
      </p:pic>
      <p:pic>
        <p:nvPicPr>
          <p:cNvPr id="324334451" name="Picture 32433445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130905" y="4476749"/>
            <a:ext cx="7359223" cy="2174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46880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887899" y="327354"/>
            <a:ext cx="8572945" cy="557940"/>
          </a:xfrm>
          <a:prstGeom prst="rect">
            <a:avLst/>
          </a:prstGeom>
        </p:spPr>
        <p:txBody>
          <a:bodyPr vert="horz" wrap="square" lIns="0" tIns="161340" rIns="0" bIns="0" rtlCol="0">
            <a:spAutoFit/>
          </a:bodyPr>
          <a:lstStyle/>
          <a:p>
            <a:pPr>
              <a:defRPr/>
            </a:pPr>
            <a:r>
              <a:rPr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MODULE 2: SECURITY, ACCESS CONTROL &amp; AUDIT</a:t>
            </a:r>
            <a:endParaRPr sz="2600" b="1">
              <a:solidFill>
                <a:srgbClr val="C00000"/>
              </a:solidFill>
            </a:endParaRPr>
          </a:p>
        </p:txBody>
      </p:sp>
      <p:sp>
        <p:nvSpPr>
          <p:cNvPr id="1391764166" name="object 3"/>
          <p:cNvSpPr txBox="1"/>
          <p:nvPr/>
        </p:nvSpPr>
        <p:spPr bwMode="auto">
          <a:xfrm>
            <a:off x="925527" y="1490851"/>
            <a:ext cx="10086319" cy="3030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Enforces Role-Based Access Control with granular permissions, bcrypt password hashing, and JWT-based sessions.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Requires step-up OTP verification for sensitive actions, with account lockout after repeated failed login attempts.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Logs every security- and inventory-relevant event to a hash-chained, tamper-evident audit ledger with built-in integrity verification.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Enforces TLS certificate verification on every external service connection, with no unauthenticated mutating endpoints.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Exposes a live system health view and error tracking for every connected service.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76470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130906" y="327355"/>
            <a:ext cx="7930906" cy="656162"/>
          </a:xfrm>
          <a:prstGeom prst="rect">
            <a:avLst/>
          </a:prstGeom>
        </p:spPr>
        <p:txBody>
          <a:bodyPr vert="horz" wrap="square" lIns="0" tIns="229082" rIns="0" bIns="0" rtlCol="0">
            <a:spAutoFit/>
          </a:bodyPr>
          <a:lstStyle/>
          <a:p>
            <a:pPr marL="1965325">
              <a:lnSpc>
                <a:spcPct val="100000"/>
              </a:lnSpc>
              <a:spcBef>
                <a:spcPts val="100"/>
              </a:spcBef>
              <a:defRPr/>
            </a:pPr>
            <a:r>
              <a:rPr sz="2800" b="1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r>
              <a:rPr sz="2800" b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2800" b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800" b="1">
              <a:latin typeface="Times New Roman"/>
              <a:cs typeface="Times New Roman"/>
            </a:endParaRPr>
          </a:p>
        </p:txBody>
      </p:sp>
      <p:pic>
        <p:nvPicPr>
          <p:cNvPr id="1058212989" name="object 3"/>
          <p:cNvPicPr/>
          <p:nvPr/>
        </p:nvPicPr>
        <p:blipFill rotWithShape="1">
          <a:blip r:embed="rId3"/>
          <a:stretch/>
        </p:blipFill>
        <p:spPr bwMode="auto">
          <a:xfrm>
            <a:off x="399373" y="1142475"/>
            <a:ext cx="5767751" cy="3064117"/>
          </a:xfrm>
          <a:prstGeom prst="rect">
            <a:avLst/>
          </a:prstGeom>
        </p:spPr>
      </p:pic>
      <p:pic>
        <p:nvPicPr>
          <p:cNvPr id="584524391" name="object 4"/>
          <p:cNvPicPr/>
          <p:nvPr/>
        </p:nvPicPr>
        <p:blipFill rotWithShape="1">
          <a:blip r:embed="rId4"/>
          <a:stretch/>
        </p:blipFill>
        <p:spPr bwMode="auto">
          <a:xfrm>
            <a:off x="6275099" y="1142475"/>
            <a:ext cx="5767750" cy="3064117"/>
          </a:xfrm>
          <a:prstGeom prst="rect">
            <a:avLst/>
          </a:prstGeom>
        </p:spPr>
      </p:pic>
      <p:pic>
        <p:nvPicPr>
          <p:cNvPr id="4583947" name="object 5"/>
          <p:cNvPicPr/>
          <p:nvPr/>
        </p:nvPicPr>
        <p:blipFill rotWithShape="1">
          <a:blip r:embed="rId5"/>
          <a:stretch/>
        </p:blipFill>
        <p:spPr bwMode="auto">
          <a:xfrm>
            <a:off x="2394648" y="4329479"/>
            <a:ext cx="7033843" cy="2204668"/>
          </a:xfrm>
          <a:prstGeom prst="rect">
            <a:avLst/>
          </a:prstGeom>
        </p:spPr>
      </p:pic>
      <p:pic>
        <p:nvPicPr>
          <p:cNvPr id="1043392028" name="Picture 104339202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84161" y="327355"/>
            <a:ext cx="352424" cy="552449"/>
          </a:xfrm>
          <a:prstGeom prst="rect">
            <a:avLst/>
          </a:prstGeom>
        </p:spPr>
      </p:pic>
      <p:pic>
        <p:nvPicPr>
          <p:cNvPr id="337635371" name="Picture 33763537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1352249" y="194004"/>
            <a:ext cx="511949" cy="40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62421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259249" y="637947"/>
            <a:ext cx="9830520" cy="462435"/>
          </a:xfrm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>
              <a:defRPr/>
            </a:pPr>
            <a:r>
              <a:rPr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MODULE 3: PREDICTIVE INTELLIGENCE &amp; DECISION SUPPORT</a:t>
            </a:r>
            <a:endParaRPr sz="2400" b="1">
              <a:solidFill>
                <a:srgbClr val="C00000"/>
              </a:solidFill>
            </a:endParaRPr>
          </a:p>
        </p:txBody>
      </p:sp>
      <p:sp>
        <p:nvSpPr>
          <p:cNvPr id="502264581" name="object 3"/>
          <p:cNvSpPr txBox="1"/>
          <p:nvPr/>
        </p:nvSpPr>
        <p:spPr bwMode="auto">
          <a:xfrm>
            <a:off x="925527" y="1526284"/>
            <a:ext cx="10243354" cy="3365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Forecasts short-horizon product demand using chronological train/test splits and walk-forward validation against naive baselines.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Scores forecast quality with WAPE, MAE, RMSE, and sMAPE, attaching a composite reliability score to every forecast.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Runs an Isolation Forest model over stock-movement data to flag anomalies that may indicate shrinkage, theft, or damage.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Performs ABC inventory classification and smart replenishment recommendations, layered on top of the core forecasting engine.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 AI recommendation ships with a plain-language explanation and a human approval step before it is acted on.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490604" name="Holder 2"/>
          <p:cNvSpPr>
            <a:spLocks noGrp="1"/>
          </p:cNvSpPr>
          <p:nvPr>
            <p:ph type="title"/>
          </p:nvPr>
        </p:nvSpPr>
        <p:spPr bwMode="auto">
          <a:xfrm>
            <a:off x="3997805" y="433724"/>
            <a:ext cx="4805963" cy="457560"/>
          </a:xfrm>
        </p:spPr>
        <p:txBody>
          <a:bodyPr/>
          <a:lstStyle/>
          <a:p>
            <a:pPr>
              <a:defRPr/>
            </a:pPr>
            <a:r>
              <a:t>MODULE 3: OUTPUT</a:t>
            </a:r>
          </a:p>
        </p:txBody>
      </p:sp>
      <p:pic>
        <p:nvPicPr>
          <p:cNvPr id="1113582590" name="Picture 111358258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9550" y="1295399"/>
            <a:ext cx="5488349" cy="2971800"/>
          </a:xfrm>
          <a:prstGeom prst="rect">
            <a:avLst/>
          </a:prstGeom>
        </p:spPr>
      </p:pic>
      <p:pic>
        <p:nvPicPr>
          <p:cNvPr id="2045347703" name="Picture 204534770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83649" y="1295399"/>
            <a:ext cx="5695949" cy="2971800"/>
          </a:xfrm>
          <a:prstGeom prst="rect">
            <a:avLst/>
          </a:prstGeom>
        </p:spPr>
      </p:pic>
      <p:pic>
        <p:nvPicPr>
          <p:cNvPr id="1816586550" name="Picture 181658654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973750" y="4362450"/>
            <a:ext cx="5257799" cy="2343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44727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717729" y="374979"/>
            <a:ext cx="8912670" cy="527460"/>
          </a:xfrm>
          <a:prstGeom prst="rect">
            <a:avLst/>
          </a:prstGeom>
        </p:spPr>
        <p:txBody>
          <a:bodyPr vert="horz" wrap="square" lIns="0" tIns="161340" rIns="0" bIns="0" rtlCol="0">
            <a:spAutoFit/>
          </a:bodyPr>
          <a:lstStyle/>
          <a:p>
            <a:pPr>
              <a:defRPr/>
            </a:pPr>
            <a:r>
              <a:rPr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MODULE 4: DIGITAL TWIN, SIMULATION &amp; AI ASSISTANT</a:t>
            </a:r>
            <a:endParaRPr sz="2400" b="1">
              <a:solidFill>
                <a:srgbClr val="C00000"/>
              </a:solidFill>
            </a:endParaRPr>
          </a:p>
        </p:txBody>
      </p:sp>
      <p:sp>
        <p:nvSpPr>
          <p:cNvPr id="2026472919" name="object 3"/>
          <p:cNvSpPr txBox="1"/>
          <p:nvPr/>
        </p:nvSpPr>
        <p:spPr bwMode="auto">
          <a:xfrm>
            <a:off x="925527" y="1526284"/>
            <a:ext cx="9704874" cy="3365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Maintains a database-reconciled 2D/3D Digital Twin showing live robot positions, routes, obstacles, and warehouse KPIs.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Implements A* pathfinding with a Manhattan-distance heuristic, cell-reservation collision detection, and dynamic replanning.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Provides Start / Pause / Step / Reset simulation controls and a Scenario Lab for reproducible what-if experiments.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Benchmarks robot-task assignment using Google OR-Tools (CP-SAT) and models packing-station throughput with SimPy.</a:t>
            </a:r>
            <a:endParaRPr sz="2200"/>
          </a:p>
          <a:p>
            <a:pPr marL="327936" indent="-327936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AI Assistant answers manager queries in natural language, grounded in real warehouse data and access permissions.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980017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130906" y="327355"/>
            <a:ext cx="7931266" cy="716453"/>
          </a:xfrm>
          <a:prstGeom prst="rect">
            <a:avLst/>
          </a:prstGeom>
        </p:spPr>
        <p:txBody>
          <a:bodyPr vert="horz" wrap="square" lIns="0" tIns="289373" rIns="0" bIns="0" rtlCol="0">
            <a:spAutoFit/>
          </a:bodyPr>
          <a:lstStyle/>
          <a:p>
            <a:pPr marL="2242185">
              <a:lnSpc>
                <a:spcPct val="100000"/>
              </a:lnSpc>
              <a:spcBef>
                <a:spcPts val="100"/>
              </a:spcBef>
              <a:defRPr/>
            </a:pPr>
            <a:r>
              <a:rPr sz="2800" b="1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r>
              <a:rPr sz="2800" b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FF0000"/>
                </a:solidFill>
                <a:latin typeface="Times New Roman"/>
                <a:cs typeface="Times New Roman"/>
              </a:rPr>
              <a:t>4:</a:t>
            </a:r>
            <a:r>
              <a:rPr sz="2800" b="1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800" b="1">
              <a:latin typeface="Times New Roman"/>
              <a:cs typeface="Times New Roman"/>
            </a:endParaRPr>
          </a:p>
        </p:txBody>
      </p:sp>
      <p:pic>
        <p:nvPicPr>
          <p:cNvPr id="1696432371" name="Picture 169643237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125" y="1219199"/>
            <a:ext cx="6250349" cy="2914649"/>
          </a:xfrm>
          <a:prstGeom prst="rect">
            <a:avLst/>
          </a:prstGeom>
        </p:spPr>
      </p:pic>
      <p:pic>
        <p:nvPicPr>
          <p:cNvPr id="1826961630" name="Picture 182696162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88499" y="1190624"/>
            <a:ext cx="5257798" cy="2971800"/>
          </a:xfrm>
          <a:prstGeom prst="rect">
            <a:avLst/>
          </a:prstGeom>
        </p:spPr>
      </p:pic>
      <p:pic>
        <p:nvPicPr>
          <p:cNvPr id="1589196412" name="Picture 158919641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035366" y="4281486"/>
            <a:ext cx="6504214" cy="2422921"/>
          </a:xfrm>
          <a:prstGeom prst="rect">
            <a:avLst/>
          </a:prstGeom>
        </p:spPr>
      </p:pic>
      <p:pic>
        <p:nvPicPr>
          <p:cNvPr id="1868707656" name="Picture 186870765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352249" y="194004"/>
            <a:ext cx="511949" cy="409574"/>
          </a:xfrm>
          <a:prstGeom prst="rect">
            <a:avLst/>
          </a:prstGeom>
        </p:spPr>
      </p:pic>
      <p:pic>
        <p:nvPicPr>
          <p:cNvPr id="963198402" name="Picture 96319840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84161" y="327355"/>
            <a:ext cx="352424" cy="552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529846" name="Holder 2"/>
          <p:cNvSpPr>
            <a:spLocks noGrp="1"/>
          </p:cNvSpPr>
          <p:nvPr>
            <p:ph type="title"/>
          </p:nvPr>
        </p:nvSpPr>
        <p:spPr bwMode="auto">
          <a:xfrm>
            <a:off x="3588608" y="327354"/>
            <a:ext cx="5014782" cy="457560"/>
          </a:xfrm>
        </p:spPr>
        <p:txBody>
          <a:bodyPr/>
          <a:lstStyle/>
          <a:p>
            <a:pPr>
              <a:defRPr/>
            </a:pPr>
            <a:r>
              <a:t>SYSTEM ARCHIECTURE</a:t>
            </a:r>
          </a:p>
        </p:txBody>
      </p:sp>
      <p:pic>
        <p:nvPicPr>
          <p:cNvPr id="1873685582" name="Picture 187368558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71737" y="1300162"/>
            <a:ext cx="7248524" cy="4257675"/>
          </a:xfrm>
          <a:prstGeom prst="rect">
            <a:avLst/>
          </a:prstGeom>
        </p:spPr>
      </p:pic>
      <p:pic>
        <p:nvPicPr>
          <p:cNvPr id="1127852446" name="Picture 112785244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4162" y="327354"/>
            <a:ext cx="352424" cy="552449"/>
          </a:xfrm>
          <a:prstGeom prst="rect">
            <a:avLst/>
          </a:prstGeom>
        </p:spPr>
      </p:pic>
      <p:pic>
        <p:nvPicPr>
          <p:cNvPr id="1298291414" name="Picture 129829141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1352249" y="194004"/>
            <a:ext cx="511949" cy="40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405667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  <a:defRPr/>
            </a:pPr>
            <a:r>
              <a:t>PROJECT</a:t>
            </a:r>
            <a:r>
              <a:rPr spc="-105"/>
              <a:t> </a:t>
            </a:r>
            <a:r>
              <a:rPr spc="-20"/>
              <a:t>COMPONENT</a:t>
            </a:r>
            <a:r>
              <a:rPr spc="-105"/>
              <a:t> </a:t>
            </a:r>
            <a:r>
              <a:rPr spc="-10"/>
              <a:t>REQUIREMENTS</a:t>
            </a:r>
            <a:endParaRPr/>
          </a:p>
        </p:txBody>
      </p:sp>
      <p:sp>
        <p:nvSpPr>
          <p:cNvPr id="2011259611" name="object 3"/>
          <p:cNvSpPr txBox="1"/>
          <p:nvPr/>
        </p:nvSpPr>
        <p:spPr bwMode="auto">
          <a:xfrm>
            <a:off x="895985" y="1220723"/>
            <a:ext cx="814450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98465" algn="l"/>
              </a:tabLst>
              <a:defRPr/>
            </a:pPr>
            <a:r>
              <a:rPr sz="1700" b="1">
                <a:solidFill>
                  <a:srgbClr val="222222"/>
                </a:solidFill>
                <a:latin typeface="Georgia"/>
                <a:cs typeface="Georgia"/>
              </a:rPr>
              <a:t>Hardware</a:t>
            </a:r>
            <a:r>
              <a:rPr sz="1700" b="1" spc="-40">
                <a:solidFill>
                  <a:srgbClr val="222222"/>
                </a:solidFill>
                <a:latin typeface="Georgia"/>
                <a:cs typeface="Georgia"/>
              </a:rPr>
              <a:t> </a:t>
            </a:r>
            <a:r>
              <a:rPr sz="1700" b="1" spc="-10">
                <a:solidFill>
                  <a:srgbClr val="222222"/>
                </a:solidFill>
                <a:latin typeface="Georgia"/>
                <a:cs typeface="Georgia"/>
              </a:rPr>
              <a:t>Requirements</a:t>
            </a:r>
            <a:r>
              <a:rPr sz="1700" b="1">
                <a:solidFill>
                  <a:srgbClr val="222222"/>
                </a:solidFill>
                <a:latin typeface="Georgia"/>
                <a:cs typeface="Georgia"/>
              </a:rPr>
              <a:t>	Software</a:t>
            </a:r>
            <a:r>
              <a:rPr sz="1700" b="1" spc="-40">
                <a:solidFill>
                  <a:srgbClr val="222222"/>
                </a:solidFill>
                <a:latin typeface="Georgia"/>
                <a:cs typeface="Georgia"/>
              </a:rPr>
              <a:t> </a:t>
            </a:r>
            <a:r>
              <a:rPr sz="1700" b="1" spc="-10">
                <a:solidFill>
                  <a:srgbClr val="222222"/>
                </a:solidFill>
                <a:latin typeface="Georgia"/>
                <a:cs typeface="Georgia"/>
              </a:rPr>
              <a:t>Requirements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10462313" name="object 4"/>
          <p:cNvSpPr txBox="1"/>
          <p:nvPr/>
        </p:nvSpPr>
        <p:spPr bwMode="auto">
          <a:xfrm>
            <a:off x="922672" y="1516888"/>
            <a:ext cx="3625850" cy="16002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9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Intel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Core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i5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Processor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or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higher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8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GB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RAM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256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GB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SSD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Laptop/Desktop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 with</a:t>
            </a:r>
            <a:r>
              <a:rPr sz="1400" spc="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Internet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Connection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Cloud</a:t>
            </a:r>
            <a:r>
              <a:rPr sz="1400" spc="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Database</a:t>
            </a:r>
            <a:r>
              <a:rPr sz="1400" spc="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(PostgreSQL,</a:t>
            </a:r>
            <a:r>
              <a:rPr sz="1400" spc="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Render-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hosted)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70454285" name="object 5"/>
          <p:cNvSpPr txBox="1"/>
          <p:nvPr/>
        </p:nvSpPr>
        <p:spPr bwMode="auto">
          <a:xfrm>
            <a:off x="6409072" y="1516888"/>
            <a:ext cx="2851785" cy="16002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900"/>
              </a:spcBef>
              <a:buChar char="•"/>
              <a:tabLst>
                <a:tab pos="328295" algn="l"/>
              </a:tabLst>
              <a:defRPr/>
            </a:pP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Windows</a:t>
            </a:r>
            <a:r>
              <a:rPr sz="1400" spc="-7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10/11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Python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3.11+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Visual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Studio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Code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FastAPI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Framework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PostgreSQL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/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SQLite</a:t>
            </a:r>
            <a:r>
              <a:rPr sz="14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(testing</a:t>
            </a:r>
            <a:r>
              <a:rPr sz="14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only)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83196101" name="object 6"/>
          <p:cNvSpPr txBox="1"/>
          <p:nvPr/>
        </p:nvSpPr>
        <p:spPr bwMode="auto">
          <a:xfrm>
            <a:off x="895985" y="4009644"/>
            <a:ext cx="16332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700" b="1">
                <a:solidFill>
                  <a:srgbClr val="222222"/>
                </a:solidFill>
                <a:latin typeface="Georgia"/>
                <a:cs typeface="Georgia"/>
              </a:rPr>
              <a:t>Core</a:t>
            </a:r>
            <a:r>
              <a:rPr sz="1700" b="1" spc="-20">
                <a:solidFill>
                  <a:srgbClr val="222222"/>
                </a:solidFill>
                <a:latin typeface="Georgia"/>
                <a:cs typeface="Georgia"/>
              </a:rPr>
              <a:t> </a:t>
            </a:r>
            <a:r>
              <a:rPr sz="1700" b="1" spc="-10">
                <a:solidFill>
                  <a:srgbClr val="222222"/>
                </a:solidFill>
                <a:latin typeface="Georgia"/>
                <a:cs typeface="Georgia"/>
              </a:rPr>
              <a:t>Libraries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11025807" name="object 7"/>
          <p:cNvSpPr txBox="1"/>
          <p:nvPr/>
        </p:nvSpPr>
        <p:spPr bwMode="auto">
          <a:xfrm>
            <a:off x="922672" y="4305808"/>
            <a:ext cx="2356485" cy="9702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900"/>
              </a:spcBef>
              <a:buChar char="•"/>
              <a:tabLst>
                <a:tab pos="328295" algn="l"/>
              </a:tabLst>
              <a:defRPr/>
            </a:pP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SQLAlchemy,</a:t>
            </a:r>
            <a:r>
              <a:rPr sz="1400" spc="-7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Alembic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scikit-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learn,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pandas,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NumPy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Google</a:t>
            </a:r>
            <a:r>
              <a:rPr sz="1400" spc="-6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OR-Tools,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SimPy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41144837" name="object 8"/>
          <p:cNvSpPr txBox="1"/>
          <p:nvPr/>
        </p:nvSpPr>
        <p:spPr bwMode="auto">
          <a:xfrm>
            <a:off x="6382385" y="4009644"/>
            <a:ext cx="25025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700" b="1">
                <a:solidFill>
                  <a:srgbClr val="222222"/>
                </a:solidFill>
                <a:latin typeface="Georgia"/>
                <a:cs typeface="Georgia"/>
              </a:rPr>
              <a:t>Dataset</a:t>
            </a:r>
            <a:r>
              <a:rPr sz="1700" b="1" spc="-35">
                <a:solidFill>
                  <a:srgbClr val="222222"/>
                </a:solidFill>
                <a:latin typeface="Georgia"/>
                <a:cs typeface="Georgia"/>
              </a:rPr>
              <a:t> </a:t>
            </a:r>
            <a:r>
              <a:rPr sz="1700" b="1" spc="-10">
                <a:solidFill>
                  <a:srgbClr val="222222"/>
                </a:solidFill>
                <a:latin typeface="Georgia"/>
                <a:cs typeface="Georgia"/>
              </a:rPr>
              <a:t>Requirements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123871237" name="object 9"/>
          <p:cNvSpPr txBox="1"/>
          <p:nvPr/>
        </p:nvSpPr>
        <p:spPr bwMode="auto">
          <a:xfrm>
            <a:off x="6409072" y="4305808"/>
            <a:ext cx="3385820" cy="9702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9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Synthetic</a:t>
            </a:r>
            <a:r>
              <a:rPr sz="1400" spc="-5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Warehouse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Inventory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Dataset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Multi-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Warehouse</a:t>
            </a:r>
            <a:r>
              <a:rPr sz="1400" spc="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Stock-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Movement</a:t>
            </a:r>
            <a:r>
              <a:rPr sz="1400" spc="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Logs</a:t>
            </a:r>
            <a:endParaRPr sz="1400">
              <a:latin typeface="Times New Roman"/>
              <a:cs typeface="Times New Roman"/>
            </a:endParaRPr>
          </a:p>
          <a:p>
            <a:pPr marL="328295" indent="-315595">
              <a:lnSpc>
                <a:spcPct val="100000"/>
              </a:lnSpc>
              <a:spcBef>
                <a:spcPts val="8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Simulated</a:t>
            </a:r>
            <a:r>
              <a:rPr sz="14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Robot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Telemetry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&amp;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Task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Events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55385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5471208" y="410972"/>
            <a:ext cx="1246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40"/>
              <a:t>TASKS</a:t>
            </a:r>
            <a:endParaRPr/>
          </a:p>
        </p:txBody>
      </p:sp>
      <p:sp>
        <p:nvSpPr>
          <p:cNvPr id="2016312212" name="object 3"/>
          <p:cNvSpPr txBox="1"/>
          <p:nvPr/>
        </p:nvSpPr>
        <p:spPr bwMode="auto">
          <a:xfrm>
            <a:off x="926461" y="1251711"/>
            <a:ext cx="10242720" cy="367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the FastAPI backend, PostgreSQL schema, and Alembic migrations for orders, tasks, robots, and inventory.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RBAC, OTP, and the hash-chained audit ledger, and validate every endpoint with automated tests.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the warehouse grid, robot fleet model, and A* path-planning engine with collision detection.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and validate the demand-forecasting and shrinkage-detection models, and expose them through backend endpoints.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the Digital Twin, Scenario Lab, and AI Decision Center frontend, wiring every module end to end.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351850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1706880">
              <a:lnSpc>
                <a:spcPct val="100000"/>
              </a:lnSpc>
              <a:spcBef>
                <a:spcPts val="100"/>
              </a:spcBef>
              <a:defRPr/>
            </a:pPr>
            <a:r>
              <a:t>SPECIFIC</a:t>
            </a:r>
            <a:r>
              <a:rPr spc="-40"/>
              <a:t> </a:t>
            </a:r>
            <a:r>
              <a:rPr spc="-20"/>
              <a:t>PARAMETERS</a:t>
            </a:r>
            <a:endParaRPr/>
          </a:p>
        </p:txBody>
      </p:sp>
      <p:sp>
        <p:nvSpPr>
          <p:cNvPr id="478506427" name="object 3"/>
          <p:cNvSpPr txBox="1"/>
          <p:nvPr/>
        </p:nvSpPr>
        <p:spPr bwMode="auto">
          <a:xfrm>
            <a:off x="926461" y="1297431"/>
            <a:ext cx="9632209" cy="367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 State: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Position, battery level, task assignment, and status (idle / moving / waiting / failed), tracked per tick.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Path Cost: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Weighted grid cost combined with the Manhattan heuristic to compute each robot's route.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Demand: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Historical stock-movement volume used as the basis for the forecast model.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Inventory Deviation: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Difference between expected and actual stock levels, used to flag anomaly events.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Priority: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Composite score combining order urgency, robot cost, and battery level for assignment.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313618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OUTCOME</a:t>
            </a:r>
            <a:r>
              <a:rPr spc="-125"/>
              <a:t> </a:t>
            </a:r>
            <a:r>
              <a:rPr spc="-10"/>
              <a:t>PARAMETERS</a:t>
            </a:r>
            <a:endParaRPr/>
          </a:p>
        </p:txBody>
      </p:sp>
      <p:sp>
        <p:nvSpPr>
          <p:cNvPr id="1723309239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926461" y="1215134"/>
            <a:ext cx="10273199" cy="3752955"/>
          </a:xfrm>
          <a:prstGeom prst="rect">
            <a:avLst/>
          </a:prstGeom>
        </p:spPr>
        <p:txBody>
          <a:bodyPr vert="horz" wrap="square" lIns="0" tIns="94996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Route &amp; Collision Report: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Shows generated robot routes and any conflicts resolved through waiting or replanning.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Forecast Reliability Score: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Displays demand forecast accuracy against naive and moving-average baselines.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Shrinkage Risk Classification: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Classifies flagged anomalies as likely shrinkage, damage, or data error.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Scenario Comparison Report: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Compares baseline vs. OR-Tools optimized scheduling across repeated simulation runs.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Audit &amp; System Health Digest: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Summarizes ledger integrity status and live connection status of every integrated service.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13582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1519555">
              <a:lnSpc>
                <a:spcPct val="100000"/>
              </a:lnSpc>
              <a:spcBef>
                <a:spcPts val="100"/>
              </a:spcBef>
              <a:defRPr/>
            </a:pPr>
            <a:r>
              <a:t>TECHNIQUES</a:t>
            </a:r>
            <a:r>
              <a:rPr spc="-100"/>
              <a:t> </a:t>
            </a:r>
            <a:r>
              <a:t>TO</a:t>
            </a:r>
            <a:r>
              <a:rPr spc="-50"/>
              <a:t> </a:t>
            </a:r>
            <a:r>
              <a:t>BE</a:t>
            </a:r>
            <a:r>
              <a:rPr spc="-50"/>
              <a:t> </a:t>
            </a:r>
            <a:r>
              <a:rPr spc="-20"/>
              <a:t>USED</a:t>
            </a:r>
            <a:endParaRPr/>
          </a:p>
        </p:txBody>
      </p:sp>
      <p:sp>
        <p:nvSpPr>
          <p:cNvPr id="1758879929" name="object 3"/>
          <p:cNvSpPr txBox="1"/>
          <p:nvPr/>
        </p:nvSpPr>
        <p:spPr bwMode="auto">
          <a:xfrm>
            <a:off x="926461" y="1297431"/>
            <a:ext cx="9528345" cy="367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Robotics &amp; Path Planning: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A* search, Manhattan heuristic, cell-reservation collision avoidance.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Machine Learning: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Isolation Forest for anomaly detection; walk-forward validated demand forecasting.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Optimization &amp; Simulation: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Google OR-Tools (CP-SAT) scheduling and SimPy discrete-event simulation.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&amp; Data: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FastAPI for the API layer, SQLAlchemy/PostgreSQL for persistence, Alembic for migrations.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Security &amp; Observability: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RBAC, OTP step-up auth, hash-chained audit ledger, live system health tracking.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3991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2497455">
              <a:lnSpc>
                <a:spcPct val="100000"/>
              </a:lnSpc>
              <a:spcBef>
                <a:spcPts val="100"/>
              </a:spcBef>
              <a:defRPr/>
            </a:pPr>
            <a:r>
              <a:t>FUTURE</a:t>
            </a:r>
            <a:r>
              <a:rPr spc="-30"/>
              <a:t> </a:t>
            </a:r>
            <a:r>
              <a:rPr spc="-10"/>
              <a:t>SCOPE</a:t>
            </a:r>
            <a:endParaRPr/>
          </a:p>
        </p:txBody>
      </p:sp>
      <p:sp>
        <p:nvSpPr>
          <p:cNvPr id="1336962133" name="object 3"/>
          <p:cNvSpPr txBox="1"/>
          <p:nvPr/>
        </p:nvSpPr>
        <p:spPr bwMode="auto">
          <a:xfrm>
            <a:off x="926461" y="1251711"/>
            <a:ext cx="9648360" cy="367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real IoT/RFID sensors for live robot telemetry instead of simulated data.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Deploy the async task pipeline on live production infrastructure for true background processing at scale.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Improve forecast accuracy using deep-learning models trained on larger historical datasets.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Extend the Digital Twin with richer 3D warehouse visualization and multi-floor support.</a:t>
            </a:r>
            <a:endParaRPr sz="2400"/>
          </a:p>
          <a:p>
            <a:pPr marL="217793" indent="-217793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a native mobile app for warehouse managers with push notifications for critical alerts.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377586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267208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CONCLUSION</a:t>
            </a:r>
            <a:endParaRPr/>
          </a:p>
        </p:txBody>
      </p:sp>
      <p:sp>
        <p:nvSpPr>
          <p:cNvPr id="617627015" name="object 3"/>
          <p:cNvSpPr txBox="1"/>
          <p:nvPr/>
        </p:nvSpPr>
        <p:spPr bwMode="auto">
          <a:xfrm>
            <a:off x="926461" y="1251711"/>
            <a:ext cx="10174139" cy="367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platform delivers a complete, tested warehouse operations core — orders, inventory, and transfers — as its foundation.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Security and auditability are built in from the ground up, not bolted on: RBAC, OTP, and a hash-chained ledger all work end to end.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forecasts demand and detects shrinkage using explainable, validated machine learning rather than black-box alerts.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Digital Twin, Scenario Lab, and AI Assistant provide reproducible simulation and natural-language decision support.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Overall, the project delivers a practical, auditable, and reproducible platform for intelligent warehouse automation.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18911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96316" rIns="0" bIns="0" rtlCol="0">
            <a:spAutoFit/>
          </a:bodyPr>
          <a:lstStyle/>
          <a:p>
            <a:pPr marL="268224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987467937" name="object 3"/>
          <p:cNvSpPr txBox="1"/>
          <p:nvPr/>
        </p:nvSpPr>
        <p:spPr bwMode="auto">
          <a:xfrm>
            <a:off x="922672" y="1347216"/>
            <a:ext cx="10191750" cy="293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295" marR="238125" indent="-316229">
              <a:lnSpc>
                <a:spcPct val="120000"/>
              </a:lnSpc>
              <a:spcBef>
                <a:spcPts val="1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Bodne,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M.,</a:t>
            </a:r>
            <a:r>
              <a:rPr sz="1400" spc="-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Patar,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V.,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Sontakke,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S.,</a:t>
            </a:r>
            <a:r>
              <a:rPr sz="14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Turankar,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V.,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&amp;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Kale,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B.</a:t>
            </a:r>
            <a:r>
              <a:rPr sz="14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5">
                <a:solidFill>
                  <a:srgbClr val="222222"/>
                </a:solidFill>
                <a:latin typeface="Times New Roman"/>
                <a:cs typeface="Times New Roman"/>
              </a:rPr>
              <a:t>V.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 (2026).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Cloud-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Based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Inventory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Management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System:</a:t>
            </a:r>
            <a:r>
              <a:rPr sz="1400" spc="-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Architecture,</a:t>
            </a:r>
            <a:r>
              <a:rPr sz="1400" spc="50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Real-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Time</a:t>
            </a:r>
            <a:r>
              <a:rPr sz="1400" spc="-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Analytics,</a:t>
            </a:r>
            <a:r>
              <a:rPr sz="1400" spc="-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Automation,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Security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for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Modern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Enterprise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Supply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Chains.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International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Research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Journal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Innovations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in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Engineering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Technology,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10(5),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241-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253.</a:t>
            </a:r>
            <a:endParaRPr sz="1400">
              <a:latin typeface="Times New Roman"/>
              <a:cs typeface="Times New Roman"/>
            </a:endParaRPr>
          </a:p>
          <a:p>
            <a:pPr marL="328295" marR="10795" indent="-316229">
              <a:lnSpc>
                <a:spcPct val="120000"/>
              </a:lnSpc>
              <a:spcBef>
                <a:spcPts val="1600"/>
              </a:spcBef>
              <a:buChar char="•"/>
              <a:tabLst>
                <a:tab pos="328295" algn="l"/>
              </a:tabLst>
              <a:defRPr/>
            </a:pP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Bhargav,</a:t>
            </a:r>
            <a:r>
              <a:rPr sz="1400" spc="-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A.,</a:t>
            </a:r>
            <a:r>
              <a:rPr sz="14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Zope,</a:t>
            </a:r>
            <a:r>
              <a:rPr sz="1400" spc="-9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A.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S.,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Jambhale,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M.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S.,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Korde,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N.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M.,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&amp;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Khan,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H.</a:t>
            </a:r>
            <a:r>
              <a:rPr sz="1400" spc="-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A.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(2017).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IoT</a:t>
            </a:r>
            <a:r>
              <a:rPr sz="1400" spc="-4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Based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Industrial</a:t>
            </a:r>
            <a:r>
              <a:rPr sz="1400" spc="-8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Automation.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International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Journal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of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Engineering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Research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400" spc="-4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Technology,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5(1),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821-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827.</a:t>
            </a:r>
            <a:endParaRPr sz="1400">
              <a:latin typeface="Times New Roman"/>
              <a:cs typeface="Times New Roman"/>
            </a:endParaRPr>
          </a:p>
          <a:p>
            <a:pPr marL="328295" marR="393065" indent="-316229">
              <a:lnSpc>
                <a:spcPct val="120000"/>
              </a:lnSpc>
              <a:spcBef>
                <a:spcPts val="1600"/>
              </a:spcBef>
              <a:buChar char="•"/>
              <a:tabLst>
                <a:tab pos="328295" algn="l"/>
              </a:tabLst>
              <a:defRPr/>
            </a:pP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Olanrewaju,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R.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F.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(2021).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Cloud-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Based</a:t>
            </a:r>
            <a:r>
              <a:rPr sz="14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Warehouse</a:t>
            </a:r>
            <a:r>
              <a:rPr sz="1400" spc="-3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System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for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Effective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Management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Under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Over-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stock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Hazards.</a:t>
            </a:r>
            <a:r>
              <a:rPr sz="1400" spc="-3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ICCCE,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pp.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274-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278.</a:t>
            </a:r>
            <a:endParaRPr sz="1400">
              <a:latin typeface="Times New Roman"/>
              <a:cs typeface="Times New Roman"/>
            </a:endParaRPr>
          </a:p>
          <a:p>
            <a:pPr marL="328295" marR="5080" indent="-316229">
              <a:lnSpc>
                <a:spcPct val="120000"/>
              </a:lnSpc>
              <a:spcBef>
                <a:spcPts val="1600"/>
              </a:spcBef>
              <a:buChar char="•"/>
              <a:tabLst>
                <a:tab pos="328295" algn="l"/>
              </a:tabLst>
              <a:defRPr/>
            </a:pP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Tan,</a:t>
            </a:r>
            <a:r>
              <a:rPr sz="14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60">
                <a:solidFill>
                  <a:srgbClr val="222222"/>
                </a:solidFill>
                <a:latin typeface="Times New Roman"/>
                <a:cs typeface="Times New Roman"/>
              </a:rPr>
              <a:t>W.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C.,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&amp;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Sidhu,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M.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S.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Review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RFID</a:t>
            </a:r>
            <a:r>
              <a:rPr sz="1400" spc="-2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IoT</a:t>
            </a:r>
            <a:r>
              <a:rPr sz="1400" spc="-5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Integration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400" spc="-15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Supply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Chain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Management.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Operations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Research</a:t>
            </a:r>
            <a:r>
              <a:rPr sz="1400" spc="-2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Perspectives, </a:t>
            </a:r>
            <a:r>
              <a:rPr sz="1400">
                <a:solidFill>
                  <a:srgbClr val="222222"/>
                </a:solidFill>
                <a:latin typeface="Times New Roman"/>
                <a:cs typeface="Times New Roman"/>
              </a:rPr>
              <a:t>9, 1342-</a:t>
            </a:r>
            <a:r>
              <a:rPr sz="1400" spc="-10">
                <a:solidFill>
                  <a:srgbClr val="222222"/>
                </a:solidFill>
                <a:latin typeface="Times New Roman"/>
                <a:cs typeface="Times New Roman"/>
              </a:rPr>
              <a:t>1348.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837100" name="object 2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2164099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4422026" y="2977388"/>
            <a:ext cx="33420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5400" b="0" i="1">
                <a:solidFill>
                  <a:srgbClr val="F1C14E"/>
                </a:solidFill>
                <a:latin typeface="Georgia"/>
                <a:cs typeface="Georgia"/>
              </a:rPr>
              <a:t>Thank</a:t>
            </a:r>
            <a:r>
              <a:rPr sz="5400" b="0" i="1" spc="-30">
                <a:solidFill>
                  <a:srgbClr val="F1C14E"/>
                </a:solidFill>
                <a:latin typeface="Georgia"/>
                <a:cs typeface="Georgia"/>
              </a:rPr>
              <a:t> </a:t>
            </a:r>
            <a:r>
              <a:rPr sz="5400" b="0" i="1" spc="-25">
                <a:solidFill>
                  <a:srgbClr val="F1C14E"/>
                </a:solidFill>
                <a:latin typeface="Georgia"/>
                <a:cs typeface="Georgia"/>
              </a:rPr>
              <a:t>You</a:t>
            </a:r>
            <a:endParaRPr sz="54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22</Slides>
  <Notes>22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Cloud-Based Smart Warehouse Automation </vt:lpstr>
      <vt:lpstr>ABSTRACT</vt:lpstr>
      <vt:lpstr>INTRODUCTION</vt:lpstr>
      <vt:lpstr>OBJECTIVES</vt:lpstr>
      <vt:lpstr> MODULE 1: CORE WAREHOUSE OPERATIONS &amp; INVENTORY MANAGEMENT</vt:lpstr>
      <vt:lpstr>MODULE 1 : OUTPUT</vt:lpstr>
      <vt:lpstr> MODULE 2: SECURITY, ACCESS CONTROL &amp; AUDIT</vt:lpstr>
      <vt:lpstr>MODULE 2: OUTPUT</vt:lpstr>
      <vt:lpstr>MODULE 3: PREDICTIVE INTELLIGENCE &amp; DECISION SUPPORT</vt:lpstr>
      <vt:lpstr>MODULE 3: OUTPUT</vt:lpstr>
      <vt:lpstr>MODULE 4: DIGITAL TWIN, SIMULATION &amp; AI ASSISTANT</vt:lpstr>
      <vt:lpstr>MODULE 4: OUTPUT</vt:lpstr>
      <vt:lpstr>SYSTEM ARCHIECTURE</vt:lpstr>
      <vt:lpstr>PROJECT COMPONENT REQUIREMENTS</vt:lpstr>
      <vt:lpstr>TASKS</vt:lpstr>
      <vt:lpstr>SPECIFIC PARAMETERS</vt:lpstr>
      <vt:lpstr>OUTCOME PARAMETERS</vt:lpstr>
      <vt:lpstr>TECHNIQUES TO BE USED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Cloud-Based_Smart_Warehouse_Automation_v3.pptx</dc:title>
  <cp:lastModifiedBy>Harsha vardhan .</cp:lastModifiedBy>
  <cp:revision>3</cp:revision>
  <dcterms:created xsi:type="dcterms:W3CDTF">2026-09-01T14:56:56Z</dcterms:created>
  <dcterms:modified xsi:type="dcterms:W3CDTF">2026-09-02T16:30:21Z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2026-09-01T00:00:00Z</vt:filetime>
  </property>
</Properties>
</file>